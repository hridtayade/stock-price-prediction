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handoutMasterIdLst>
    <p:handoutMasterId r:id="rId14"/>
  </p:handoutMasterIdLst>
  <p:sldIdLst>
    <p:sldId id="293" r:id="rId2"/>
    <p:sldId id="321" r:id="rId3"/>
    <p:sldId id="296" r:id="rId4"/>
    <p:sldId id="322" r:id="rId5"/>
    <p:sldId id="323" r:id="rId6"/>
    <p:sldId id="324" r:id="rId7"/>
    <p:sldId id="325" r:id="rId8"/>
    <p:sldId id="326" r:id="rId9"/>
    <p:sldId id="327" r:id="rId10"/>
    <p:sldId id="328" r:id="rId11"/>
    <p:sldId id="297" r:id="rId12"/>
  </p:sldIdLst>
  <p:sldSz cx="9144000" cy="6858000" type="screen4x3"/>
  <p:notesSz cx="6858000" cy="9144000"/>
  <p:embeddedFontLst>
    <p:embeddedFont>
      <p:font typeface="맑은 고딕" pitchFamily="34" charset="-127"/>
      <p:regular r:id="rId15"/>
      <p:bold r:id="rId16"/>
    </p:embeddedFont>
    <p:embeddedFont>
      <p:font typeface="Arial Rounded MT Bold" pitchFamily="34" charset="0"/>
      <p:regular r:id="rId17"/>
    </p:embeddedFont>
    <p:embeddedFont>
      <p:font typeface="Calibri Light" pitchFamily="34" charset="0"/>
      <p:regular r:id="rId18"/>
      <p:italic r:id="rId19"/>
    </p:embeddedFont>
    <p:embeddedFont>
      <p:font typeface="Calibri" pitchFamily="34" charset="0"/>
      <p:regular r:id="rId20"/>
      <p:bold r:id="rId21"/>
      <p:italic r:id="rId22"/>
      <p:boldItalic r:id="rId23"/>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A7538"/>
    <a:srgbClr val="592A34"/>
    <a:srgbClr val="DBAFB8"/>
    <a:srgbClr val="B35669"/>
    <a:srgbClr val="FDE7FC"/>
    <a:srgbClr val="944657"/>
    <a:srgbClr val="C00000"/>
    <a:srgbClr val="2D2F2D"/>
    <a:srgbClr val="F6882E"/>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31" autoAdjust="0"/>
    <p:restoredTop sz="94767" autoAdjust="0"/>
  </p:normalViewPr>
  <p:slideViewPr>
    <p:cSldViewPr>
      <p:cViewPr>
        <p:scale>
          <a:sx n="50" d="100"/>
          <a:sy n="50" d="100"/>
        </p:scale>
        <p:origin x="-566" y="-854"/>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notesViewPr>
    <p:cSldViewPr>
      <p:cViewPr varScale="1">
        <p:scale>
          <a:sx n="87" d="100"/>
          <a:sy n="87" d="100"/>
        </p:scale>
        <p:origin x="-385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 Id="rId22" Type="http://schemas.openxmlformats.org/officeDocument/2006/relationships/font" Target="fonts/font8.fntdata"/><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CCFBE2-2B8D-499C-81C9-2CD5B3EB8E93}" type="datetimeFigureOut">
              <a:rPr lang="ko-KR" altLang="en-US" smtClean="0"/>
              <a:pPr/>
              <a:t>2026-03-31</a:t>
            </a:fld>
            <a:endParaRPr lang="ko-KR" altLang="en-US"/>
          </a:p>
        </p:txBody>
      </p:sp>
      <p:sp>
        <p:nvSpPr>
          <p:cNvPr id="4" name="바닥글 개체 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554DD7E-3179-445A-81DB-781C4554AFF2}" type="slidenum">
              <a:rPr lang="ko-KR" altLang="en-US" smtClean="0"/>
              <a:pPr/>
              <a:t>‹#›</a:t>
            </a:fld>
            <a:endParaRPr lang="ko-KR" altLang="en-US"/>
          </a:p>
        </p:txBody>
      </p:sp>
    </p:spTree>
    <p:extLst>
      <p:ext uri="{BB962C8B-B14F-4D97-AF65-F5344CB8AC3E}">
        <p14:creationId xmlns:p14="http://schemas.microsoft.com/office/powerpoint/2010/main" val="2469536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545AC5-813F-4ED1-B011-8EA17CB93331}" type="datetimeFigureOut">
              <a:rPr lang="ko-KR" altLang="en-US" smtClean="0"/>
              <a:pPr/>
              <a:t>2026-03-31</a:t>
            </a:fld>
            <a:endParaRPr lang="ko-KR" altLang="en-US"/>
          </a:p>
        </p:txBody>
      </p:sp>
      <p:sp>
        <p:nvSpPr>
          <p:cNvPr id="4" name="슬라이드 이미지 개체 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504B90-27FD-422C-8CC6-2AADAD122D08}" type="slidenum">
              <a:rPr lang="ko-KR" altLang="en-US" smtClean="0"/>
              <a:pPr/>
              <a:t>‹#›</a:t>
            </a:fld>
            <a:endParaRPr lang="ko-KR" altLang="en-US"/>
          </a:p>
        </p:txBody>
      </p:sp>
    </p:spTree>
    <p:extLst>
      <p:ext uri="{BB962C8B-B14F-4D97-AF65-F5344CB8AC3E}">
        <p14:creationId xmlns:p14="http://schemas.microsoft.com/office/powerpoint/2010/main" val="26870727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A5504B90-27FD-422C-8CC6-2AADAD122D08}" type="slidenum">
              <a:rPr lang="ko-KR" altLang="en-US" smtClean="0"/>
              <a:pPr/>
              <a:t>1</a:t>
            </a:fld>
            <a:endParaRPr lang="ko-KR" altLang="en-US" dirty="0"/>
          </a:p>
        </p:txBody>
      </p:sp>
    </p:spTree>
    <p:extLst>
      <p:ext uri="{BB962C8B-B14F-4D97-AF65-F5344CB8AC3E}">
        <p14:creationId xmlns:p14="http://schemas.microsoft.com/office/powerpoint/2010/main" val="24131348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날짜 개체 틀 3"/>
          <p:cNvSpPr>
            <a:spLocks noGrp="1"/>
          </p:cNvSpPr>
          <p:nvPr>
            <p:ph type="dt" sz="half" idx="10"/>
          </p:nvPr>
        </p:nvSpPr>
        <p:spPr/>
        <p:txBody>
          <a:bodyPr/>
          <a:lstStyle/>
          <a:p>
            <a:fld id="{ED3D6733-6F27-4404-AB51-585418F146E5}" type="datetimeFigureOut">
              <a:rPr lang="ko-KR" altLang="en-US" smtClean="0"/>
              <a:pPr/>
              <a:t>2026-03-31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EE6BC638-39B7-4287-91A7-2A3DDA573295}" type="slidenum">
              <a:rPr lang="ko-KR" altLang="en-US" smtClean="0"/>
              <a:pPr/>
              <a:t>‹#›</a:t>
            </a:fld>
            <a:endParaRPr lang="ko-KR" altLang="en-US"/>
          </a:p>
        </p:txBody>
      </p:sp>
      <p:sp>
        <p:nvSpPr>
          <p:cNvPr id="9" name="제목 1"/>
          <p:cNvSpPr>
            <a:spLocks noGrp="1"/>
          </p:cNvSpPr>
          <p:nvPr>
            <p:ph type="ctrTitle"/>
          </p:nvPr>
        </p:nvSpPr>
        <p:spPr>
          <a:xfrm>
            <a:off x="3203848" y="2348880"/>
            <a:ext cx="5832648" cy="1585337"/>
          </a:xfrm>
        </p:spPr>
        <p:txBody>
          <a:bodyPr vert="horz" wrap="square" lIns="91440" tIns="45720" rIns="91440" bIns="45720" numCol="1" rtlCol="0" anchor="ctr" anchorCtr="0" compatLnSpc="1">
            <a:prstTxWarp prst="textNoShape">
              <a:avLst/>
            </a:prstTxWarp>
            <a:noAutofit/>
          </a:bodyPr>
          <a:lstStyle>
            <a:lvl1pPr marL="0" indent="0" algn="ctr" defTabSz="914400" rtl="0" eaLnBrk="1" fontAlgn="base" latinLnBrk="1" hangingPunct="1">
              <a:lnSpc>
                <a:spcPct val="100000"/>
              </a:lnSpc>
              <a:spcBef>
                <a:spcPct val="0"/>
              </a:spcBef>
              <a:spcAft>
                <a:spcPct val="0"/>
              </a:spcAft>
              <a:buClr>
                <a:schemeClr val="hlink"/>
              </a:buClr>
              <a:buFont typeface="굴림체" pitchFamily="49" charset="-127"/>
              <a:buNone/>
              <a:defRPr lang="ko-KR" altLang="en-US" sz="5400" b="0" kern="1200" baseline="0" dirty="0">
                <a:solidFill>
                  <a:schemeClr val="tx2">
                    <a:lumMod val="60000"/>
                    <a:lumOff val="40000"/>
                  </a:schemeClr>
                </a:solidFill>
                <a:effectLst/>
                <a:latin typeface="+mj-lt"/>
                <a:ea typeface="맑은 고딕" pitchFamily="50" charset="-127"/>
                <a:cs typeface="+mj-cs"/>
              </a:defRPr>
            </a:lvl1pPr>
          </a:lstStyle>
          <a:p>
            <a:endParaRPr lang="ko-KR"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빈 화면">
    <p:bg>
      <p:bgPr>
        <a:solidFill>
          <a:schemeClr val="bg1"/>
        </a:solidFill>
        <a:effectLst/>
      </p:bgPr>
    </p:bg>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날짜 개체 틀 1"/>
          <p:cNvSpPr>
            <a:spLocks noGrp="1"/>
          </p:cNvSpPr>
          <p:nvPr>
            <p:ph type="dt" sz="half" idx="10"/>
          </p:nvPr>
        </p:nvSpPr>
        <p:spPr/>
        <p:txBody>
          <a:bodyPr/>
          <a:lstStyle/>
          <a:p>
            <a:fld id="{ED3D6733-6F27-4404-AB51-585418F146E5}" type="datetimeFigureOut">
              <a:rPr lang="ko-KR" altLang="en-US" smtClean="0"/>
              <a:pPr/>
              <a:t>2026-03-31</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구역 머리글">
    <p:bg>
      <p:bgPr>
        <a:solidFill>
          <a:schemeClr val="bg1"/>
        </a:solidFill>
        <a:effectLst/>
      </p:bgPr>
    </p:bg>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날짜 개체 틀 3"/>
          <p:cNvSpPr>
            <a:spLocks noGrp="1"/>
          </p:cNvSpPr>
          <p:nvPr>
            <p:ph type="dt" sz="half" idx="10"/>
          </p:nvPr>
        </p:nvSpPr>
        <p:spPr/>
        <p:txBody>
          <a:bodyPr/>
          <a:lstStyle/>
          <a:p>
            <a:fld id="{ED3D6733-6F27-4404-AB51-585418F146E5}" type="datetimeFigureOut">
              <a:rPr lang="ko-KR" altLang="en-US" smtClean="0"/>
              <a:pPr/>
              <a:t>2026-03-31</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사용자 지정 레이아웃">
    <p:bg>
      <p:bgPr>
        <a:solidFill>
          <a:schemeClr val="bg1"/>
        </a:solidFill>
        <a:effectLst/>
      </p:bgPr>
    </p:bg>
    <p:spTree>
      <p:nvGrpSpPr>
        <p:cNvPr id="1" name=""/>
        <p:cNvGrpSpPr/>
        <p:nvPr/>
      </p:nvGrpSpPr>
      <p:grpSpPr>
        <a:xfrm>
          <a:off x="0" y="0"/>
          <a:ext cx="0" cy="0"/>
          <a:chOff x="0" y="0"/>
          <a:chExt cx="0" cy="0"/>
        </a:xfrm>
      </p:grpSpPr>
      <p:pic>
        <p:nvPicPr>
          <p:cNvPr id="7" name="그림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제목 1"/>
          <p:cNvSpPr>
            <a:spLocks noGrp="1"/>
          </p:cNvSpPr>
          <p:nvPr>
            <p:ph type="title"/>
          </p:nvPr>
        </p:nvSpPr>
        <p:spPr>
          <a:xfrm>
            <a:off x="971600" y="111812"/>
            <a:ext cx="7085132" cy="796908"/>
          </a:xfrm>
        </p:spPr>
        <p:txBody>
          <a:bodyPr vert="horz" lIns="91440" tIns="45720" rIns="91440" bIns="45720" rtlCol="0" anchor="ctr">
            <a:normAutofit/>
          </a:bodyPr>
          <a:lstStyle>
            <a:lvl1pPr algn="l" defTabSz="914400" rtl="0" eaLnBrk="1" latinLnBrk="1" hangingPunct="1">
              <a:spcBef>
                <a:spcPct val="0"/>
              </a:spcBef>
              <a:buNone/>
              <a:defRPr lang="ko-KR" altLang="en-US" sz="2500" b="1" kern="1200" baseline="0" dirty="0">
                <a:solidFill>
                  <a:schemeClr val="tx1">
                    <a:lumMod val="65000"/>
                    <a:lumOff val="35000"/>
                  </a:schemeClr>
                </a:solidFill>
                <a:latin typeface="+mj-lt"/>
                <a:ea typeface="맑은 고딕" pitchFamily="50" charset="-127"/>
                <a:cs typeface="+mj-cs"/>
              </a:defRPr>
            </a:lvl1pPr>
          </a:lstStyle>
          <a:p>
            <a:r>
              <a:rPr lang="ko-KR" altLang="en-US" dirty="0"/>
              <a:t>마스터 제목 스타일 편집</a:t>
            </a:r>
          </a:p>
        </p:txBody>
      </p:sp>
      <p:sp>
        <p:nvSpPr>
          <p:cNvPr id="3" name="날짜 개체 틀 2"/>
          <p:cNvSpPr>
            <a:spLocks noGrp="1"/>
          </p:cNvSpPr>
          <p:nvPr>
            <p:ph type="dt" sz="half" idx="10"/>
          </p:nvPr>
        </p:nvSpPr>
        <p:spPr/>
        <p:txBody>
          <a:bodyPr/>
          <a:lstStyle>
            <a:lvl1pPr>
              <a:defRPr>
                <a:latin typeface="+mj-lt"/>
              </a:defRPr>
            </a:lvl1pPr>
          </a:lstStyle>
          <a:p>
            <a:fld id="{ED3D6733-6F27-4404-AB51-585418F146E5}" type="datetimeFigureOut">
              <a:rPr lang="ko-KR" altLang="en-US" smtClean="0"/>
              <a:pPr/>
              <a:t>2026-03-31</a:t>
            </a:fld>
            <a:endParaRPr lang="ko-KR" altLang="en-US"/>
          </a:p>
        </p:txBody>
      </p:sp>
      <p:sp>
        <p:nvSpPr>
          <p:cNvPr id="4" name="바닥글 개체 틀 3"/>
          <p:cNvSpPr>
            <a:spLocks noGrp="1"/>
          </p:cNvSpPr>
          <p:nvPr>
            <p:ph type="ftr" sz="quarter" idx="11"/>
          </p:nvPr>
        </p:nvSpPr>
        <p:spPr/>
        <p:txBody>
          <a:bodyPr/>
          <a:lstStyle>
            <a:lvl1pPr>
              <a:defRPr>
                <a:latin typeface="+mj-lt"/>
              </a:defRPr>
            </a:lvl1pPr>
          </a:lstStyle>
          <a:p>
            <a:endParaRPr lang="ko-KR" altLang="en-US"/>
          </a:p>
        </p:txBody>
      </p:sp>
      <p:sp>
        <p:nvSpPr>
          <p:cNvPr id="5" name="슬라이드 번호 개체 틀 4"/>
          <p:cNvSpPr>
            <a:spLocks noGrp="1"/>
          </p:cNvSpPr>
          <p:nvPr>
            <p:ph type="sldNum" sz="quarter" idx="12"/>
          </p:nvPr>
        </p:nvSpPr>
        <p:spPr/>
        <p:txBody>
          <a:bodyPr/>
          <a:lstStyle>
            <a:lvl1pPr>
              <a:defRPr>
                <a:latin typeface="+mj-lt"/>
              </a:defRPr>
            </a:lvl1pPr>
          </a:lstStyle>
          <a:p>
            <a:fld id="{EE6BC638-39B7-4287-91A7-2A3DDA573295}" type="slidenum">
              <a:rPr lang="ko-KR" altLang="en-US" smtClean="0"/>
              <a:pPr/>
              <a:t>‹#›</a:t>
            </a:fld>
            <a:endParaRPr lang="ko-KR" altLang="en-US"/>
          </a:p>
        </p:txBody>
      </p:sp>
      <p:sp>
        <p:nvSpPr>
          <p:cNvPr id="6" name="내용 개체 틀 2"/>
          <p:cNvSpPr>
            <a:spLocks noGrp="1"/>
          </p:cNvSpPr>
          <p:nvPr>
            <p:ph idx="1"/>
          </p:nvPr>
        </p:nvSpPr>
        <p:spPr>
          <a:xfrm>
            <a:off x="395536" y="1268760"/>
            <a:ext cx="8402525" cy="4881686"/>
          </a:xfrm>
        </p:spPr>
        <p:txBody>
          <a:bodyPr>
            <a:normAutofit/>
          </a:bodyPr>
          <a:lstStyle>
            <a:lvl1pPr algn="l">
              <a:buNone/>
              <a:defRPr sz="1600" i="1" baseline="0">
                <a:solidFill>
                  <a:schemeClr val="tx1">
                    <a:lumMod val="65000"/>
                    <a:lumOff val="35000"/>
                  </a:schemeClr>
                </a:solidFill>
                <a:latin typeface="+mj-lt"/>
                <a:ea typeface="맑은 고딕" pitchFamily="50" charset="-127"/>
              </a:defRPr>
            </a:lvl1pPr>
            <a:lvl2pPr algn="l">
              <a:buNone/>
              <a:defRPr sz="1600" i="1" baseline="0">
                <a:solidFill>
                  <a:schemeClr val="tx1">
                    <a:lumMod val="65000"/>
                    <a:lumOff val="35000"/>
                  </a:schemeClr>
                </a:solidFill>
                <a:latin typeface="+mj-lt"/>
                <a:ea typeface="맑은 고딕" pitchFamily="50" charset="-127"/>
              </a:defRPr>
            </a:lvl2pPr>
            <a:lvl3pPr algn="l">
              <a:buNone/>
              <a:defRPr sz="1600" i="1" baseline="0">
                <a:solidFill>
                  <a:schemeClr val="tx1">
                    <a:lumMod val="65000"/>
                    <a:lumOff val="35000"/>
                  </a:schemeClr>
                </a:solidFill>
                <a:latin typeface="+mj-lt"/>
                <a:ea typeface="맑은 고딕" pitchFamily="50" charset="-127"/>
              </a:defRPr>
            </a:lvl3pPr>
            <a:lvl4pPr algn="l">
              <a:buNone/>
              <a:defRPr sz="1600" i="1" baseline="0">
                <a:solidFill>
                  <a:schemeClr val="tx1">
                    <a:lumMod val="65000"/>
                    <a:lumOff val="35000"/>
                  </a:schemeClr>
                </a:solidFill>
                <a:latin typeface="+mj-lt"/>
                <a:ea typeface="맑은 고딕" pitchFamily="50" charset="-127"/>
              </a:defRPr>
            </a:lvl4pPr>
            <a:lvl5pPr algn="l">
              <a:buNone/>
              <a:defRPr sz="1600" i="1" baseline="0">
                <a:solidFill>
                  <a:schemeClr val="tx1">
                    <a:lumMod val="65000"/>
                    <a:lumOff val="35000"/>
                  </a:schemeClr>
                </a:solidFill>
                <a:latin typeface="+mj-lt"/>
                <a:ea typeface="맑은 고딕"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제목 및 내용">
    <p:bg>
      <p:bgPr>
        <a:solidFill>
          <a:schemeClr val="bg1"/>
        </a:solidFill>
        <a:effectLst/>
      </p:bgPr>
    </p:bg>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날짜 개체 틀 3"/>
          <p:cNvSpPr>
            <a:spLocks noGrp="1"/>
          </p:cNvSpPr>
          <p:nvPr>
            <p:ph type="dt" sz="half" idx="10"/>
          </p:nvPr>
        </p:nvSpPr>
        <p:spPr>
          <a:xfrm>
            <a:off x="457200" y="6500834"/>
            <a:ext cx="2133600" cy="220641"/>
          </a:xfrm>
        </p:spPr>
        <p:txBody>
          <a:bodyPr/>
          <a:lstStyle>
            <a:lvl1pPr>
              <a:defRPr>
                <a:latin typeface="+mj-lt"/>
              </a:defRPr>
            </a:lvl1pPr>
          </a:lstStyle>
          <a:p>
            <a:fld id="{ED3D6733-6F27-4404-AB51-585418F146E5}" type="datetimeFigureOut">
              <a:rPr lang="ko-KR" altLang="en-US" smtClean="0"/>
              <a:pPr/>
              <a:t>2026-03-31</a:t>
            </a:fld>
            <a:endParaRPr lang="ko-KR" altLang="en-US"/>
          </a:p>
        </p:txBody>
      </p:sp>
      <p:sp>
        <p:nvSpPr>
          <p:cNvPr id="5" name="바닥글 개체 틀 4"/>
          <p:cNvSpPr>
            <a:spLocks noGrp="1"/>
          </p:cNvSpPr>
          <p:nvPr>
            <p:ph type="ftr" sz="quarter" idx="11"/>
          </p:nvPr>
        </p:nvSpPr>
        <p:spPr>
          <a:xfrm>
            <a:off x="3124200" y="6500834"/>
            <a:ext cx="2895600" cy="220641"/>
          </a:xfrm>
        </p:spPr>
        <p:txBody>
          <a:bodyPr/>
          <a:lstStyle>
            <a:lvl1pPr>
              <a:defRPr>
                <a:latin typeface="+mj-lt"/>
              </a:defRPr>
            </a:lvl1pPr>
          </a:lstStyle>
          <a:p>
            <a:endParaRPr lang="ko-KR" altLang="en-US"/>
          </a:p>
        </p:txBody>
      </p:sp>
      <p:sp>
        <p:nvSpPr>
          <p:cNvPr id="6" name="슬라이드 번호 개체 틀 5"/>
          <p:cNvSpPr>
            <a:spLocks noGrp="1"/>
          </p:cNvSpPr>
          <p:nvPr>
            <p:ph type="sldNum" sz="quarter" idx="12"/>
          </p:nvPr>
        </p:nvSpPr>
        <p:spPr>
          <a:xfrm>
            <a:off x="6553200" y="6500834"/>
            <a:ext cx="2133600" cy="220641"/>
          </a:xfrm>
        </p:spPr>
        <p:txBody>
          <a:bodyPr/>
          <a:lstStyle>
            <a:lvl1pPr>
              <a:defRPr>
                <a:latin typeface="+mj-lt"/>
              </a:defRPr>
            </a:lvl1pPr>
          </a:lstStyle>
          <a:p>
            <a:fld id="{EE6BC638-39B7-4287-91A7-2A3DDA573295}" type="slidenum">
              <a:rPr lang="ko-KR" altLang="en-US" smtClean="0"/>
              <a:pPr/>
              <a:t>‹#›</a:t>
            </a:fld>
            <a:endParaRPr lang="ko-KR" altLang="en-US"/>
          </a:p>
        </p:txBody>
      </p:sp>
      <p:sp>
        <p:nvSpPr>
          <p:cNvPr id="11" name="내용 개체 틀 2"/>
          <p:cNvSpPr>
            <a:spLocks noGrp="1"/>
          </p:cNvSpPr>
          <p:nvPr>
            <p:ph idx="1"/>
          </p:nvPr>
        </p:nvSpPr>
        <p:spPr>
          <a:xfrm>
            <a:off x="395536" y="1268760"/>
            <a:ext cx="8402525" cy="4881686"/>
          </a:xfrm>
        </p:spPr>
        <p:txBody>
          <a:bodyPr>
            <a:normAutofit/>
          </a:bodyPr>
          <a:lstStyle>
            <a:lvl1pPr algn="l">
              <a:buNone/>
              <a:defRPr sz="1600" i="1" baseline="0">
                <a:solidFill>
                  <a:schemeClr val="tx1">
                    <a:lumMod val="65000"/>
                    <a:lumOff val="35000"/>
                  </a:schemeClr>
                </a:solidFill>
                <a:latin typeface="+mj-lt"/>
                <a:ea typeface="맑은 고딕" pitchFamily="50" charset="-127"/>
              </a:defRPr>
            </a:lvl1pPr>
            <a:lvl2pPr algn="l">
              <a:buNone/>
              <a:defRPr sz="1600" i="1" baseline="0">
                <a:solidFill>
                  <a:schemeClr val="tx1">
                    <a:lumMod val="65000"/>
                    <a:lumOff val="35000"/>
                  </a:schemeClr>
                </a:solidFill>
                <a:latin typeface="+mj-lt"/>
                <a:ea typeface="맑은 고딕" pitchFamily="50" charset="-127"/>
              </a:defRPr>
            </a:lvl2pPr>
            <a:lvl3pPr algn="l">
              <a:buNone/>
              <a:defRPr sz="1600" i="1" baseline="0">
                <a:solidFill>
                  <a:schemeClr val="tx1">
                    <a:lumMod val="65000"/>
                    <a:lumOff val="35000"/>
                  </a:schemeClr>
                </a:solidFill>
                <a:latin typeface="+mj-lt"/>
                <a:ea typeface="맑은 고딕" pitchFamily="50" charset="-127"/>
              </a:defRPr>
            </a:lvl3pPr>
            <a:lvl4pPr algn="l">
              <a:buNone/>
              <a:defRPr sz="1600" i="1" baseline="0">
                <a:solidFill>
                  <a:schemeClr val="tx1">
                    <a:lumMod val="65000"/>
                    <a:lumOff val="35000"/>
                  </a:schemeClr>
                </a:solidFill>
                <a:latin typeface="+mj-lt"/>
                <a:ea typeface="맑은 고딕" pitchFamily="50" charset="-127"/>
              </a:defRPr>
            </a:lvl4pPr>
            <a:lvl5pPr algn="l">
              <a:buNone/>
              <a:defRPr sz="1600" i="1" baseline="0">
                <a:solidFill>
                  <a:schemeClr val="tx1">
                    <a:lumMod val="65000"/>
                    <a:lumOff val="35000"/>
                  </a:schemeClr>
                </a:solidFill>
                <a:latin typeface="+mj-lt"/>
                <a:ea typeface="맑은 고딕"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9" name="제목 1"/>
          <p:cNvSpPr>
            <a:spLocks noGrp="1"/>
          </p:cNvSpPr>
          <p:nvPr>
            <p:ph type="title"/>
          </p:nvPr>
        </p:nvSpPr>
        <p:spPr>
          <a:xfrm>
            <a:off x="971600" y="116632"/>
            <a:ext cx="7085132" cy="796908"/>
          </a:xfrm>
        </p:spPr>
        <p:txBody>
          <a:bodyPr vert="horz" lIns="91440" tIns="45720" rIns="91440" bIns="45720" rtlCol="0" anchor="ctr">
            <a:normAutofit/>
          </a:bodyPr>
          <a:lstStyle>
            <a:lvl1pPr algn="l" defTabSz="914400" rtl="0" eaLnBrk="1" latinLnBrk="1" hangingPunct="1">
              <a:spcBef>
                <a:spcPct val="0"/>
              </a:spcBef>
              <a:buNone/>
              <a:defRPr lang="ko-KR" altLang="en-US" sz="2500" b="1" kern="1200" baseline="0" dirty="0">
                <a:solidFill>
                  <a:schemeClr val="tx1">
                    <a:lumMod val="65000"/>
                    <a:lumOff val="35000"/>
                  </a:schemeClr>
                </a:solidFill>
                <a:latin typeface="+mj-lt"/>
                <a:ea typeface="맑은 고딕" pitchFamily="50" charset="-127"/>
                <a:cs typeface="+mj-cs"/>
              </a:defRPr>
            </a:lvl1pPr>
          </a:lstStyle>
          <a:p>
            <a:r>
              <a:rPr lang="ko-KR" altLang="en-US" dirty="0"/>
              <a:t>마스터 제목 스타일 편집</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사용자 지정 레이아웃">
    <p:bg>
      <p:bgPr>
        <a:solidFill>
          <a:schemeClr val="bg1"/>
        </a:solidFill>
        <a:effectLst/>
      </p:bgPr>
    </p:bg>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날짜 개체 틀 2"/>
          <p:cNvSpPr>
            <a:spLocks noGrp="1"/>
          </p:cNvSpPr>
          <p:nvPr>
            <p:ph type="dt" sz="half" idx="10"/>
          </p:nvPr>
        </p:nvSpPr>
        <p:spPr/>
        <p:txBody>
          <a:bodyPr/>
          <a:lstStyle/>
          <a:p>
            <a:fld id="{ED3D6733-6F27-4404-AB51-585418F146E5}" type="datetimeFigureOut">
              <a:rPr lang="ko-KR" altLang="en-US" smtClean="0"/>
              <a:pPr/>
              <a:t>2026-03-31</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EE6BC638-39B7-4287-91A7-2A3DDA573295}" type="slidenum">
              <a:rPr lang="ko-KR" altLang="en-US" smtClean="0"/>
              <a:pPr/>
              <a:t>‹#›</a:t>
            </a:fld>
            <a:endParaRPr lang="ko-KR" altLang="en-US"/>
          </a:p>
        </p:txBody>
      </p:sp>
      <p:sp>
        <p:nvSpPr>
          <p:cNvPr id="6" name="제목 1"/>
          <p:cNvSpPr>
            <a:spLocks noGrp="1"/>
          </p:cNvSpPr>
          <p:nvPr>
            <p:ph type="ctrTitle"/>
          </p:nvPr>
        </p:nvSpPr>
        <p:spPr>
          <a:xfrm>
            <a:off x="755576" y="1700808"/>
            <a:ext cx="4399406" cy="2376264"/>
          </a:xfrm>
          <a:noFill/>
          <a:ln w="9525">
            <a:noFill/>
            <a:miter lim="800000"/>
            <a:headEnd/>
            <a:tailEnd/>
          </a:ln>
        </p:spPr>
        <p:txBody>
          <a:bodyPr vert="horz" wrap="square" lIns="91440" tIns="45720" rIns="91440" bIns="45720" numCol="1" rtlCol="0" anchor="t" anchorCtr="0" compatLnSpc="1">
            <a:prstTxWarp prst="textNoShape">
              <a:avLst/>
            </a:prstTxWarp>
            <a:noAutofit/>
          </a:bodyPr>
          <a:lstStyle>
            <a:lvl1pPr marL="0" indent="0" algn="ctr" defTabSz="914400" rtl="0" eaLnBrk="1" fontAlgn="base" latinLnBrk="1" hangingPunct="1">
              <a:lnSpc>
                <a:spcPct val="100000"/>
              </a:lnSpc>
              <a:spcBef>
                <a:spcPct val="0"/>
              </a:spcBef>
              <a:spcAft>
                <a:spcPct val="0"/>
              </a:spcAft>
              <a:buClr>
                <a:schemeClr val="hlink"/>
              </a:buClr>
              <a:buFont typeface="굴림체" pitchFamily="49" charset="-127"/>
              <a:buNone/>
              <a:defRPr lang="ko-KR" altLang="en-US" sz="7000" b="0" kern="1200" baseline="0" dirty="0">
                <a:solidFill>
                  <a:schemeClr val="tx2">
                    <a:lumMod val="60000"/>
                    <a:lumOff val="40000"/>
                  </a:schemeClr>
                </a:solidFill>
                <a:effectLst/>
                <a:latin typeface="+mj-lt"/>
                <a:ea typeface="맑은 고딕" pitchFamily="50" charset="-127"/>
                <a:cs typeface="+mj-cs"/>
              </a:defRPr>
            </a:lvl1pPr>
          </a:lstStyle>
          <a:p>
            <a:endParaRPr lang="ko-KR"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19026"/>
            <a:ext cx="8229600" cy="796908"/>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p:cNvSpPr>
            <a:spLocks noGrp="1"/>
          </p:cNvSpPr>
          <p:nvPr>
            <p:ph type="body" idx="1"/>
          </p:nvPr>
        </p:nvSpPr>
        <p:spPr>
          <a:xfrm>
            <a:off x="457200" y="1062021"/>
            <a:ext cx="8229600" cy="5286412"/>
          </a:xfrm>
          <a:prstGeom prst="rect">
            <a:avLst/>
          </a:prstGeom>
        </p:spPr>
        <p:txBody>
          <a:bodyPr vert="horz" lIns="91440" tIns="45720" rIns="91440" bIns="45720" rtlCol="0">
            <a:normAutofit/>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날짜 개체 틀 3"/>
          <p:cNvSpPr>
            <a:spLocks noGrp="1"/>
          </p:cNvSpPr>
          <p:nvPr>
            <p:ph type="dt" sz="half" idx="2"/>
          </p:nvPr>
        </p:nvSpPr>
        <p:spPr>
          <a:xfrm>
            <a:off x="457200" y="6429396"/>
            <a:ext cx="2133600" cy="292079"/>
          </a:xfrm>
          <a:prstGeom prst="rect">
            <a:avLst/>
          </a:prstGeom>
        </p:spPr>
        <p:txBody>
          <a:bodyPr vert="horz" lIns="91440" tIns="45720" rIns="91440" bIns="45720" rtlCol="0" anchor="ctr"/>
          <a:lstStyle>
            <a:lvl1pPr algn="l">
              <a:defRPr sz="1200">
                <a:solidFill>
                  <a:schemeClr val="tx1">
                    <a:tint val="75000"/>
                  </a:schemeClr>
                </a:solidFill>
              </a:defRPr>
            </a:lvl1pPr>
          </a:lstStyle>
          <a:p>
            <a:fld id="{ED3D6733-6F27-4404-AB51-585418F146E5}" type="datetimeFigureOut">
              <a:rPr lang="ko-KR" altLang="en-US" smtClean="0"/>
              <a:pPr/>
              <a:t>2026-03-31</a:t>
            </a:fld>
            <a:endParaRPr lang="ko-KR" altLang="en-US"/>
          </a:p>
        </p:txBody>
      </p:sp>
      <p:sp>
        <p:nvSpPr>
          <p:cNvPr id="5" name="바닥글 개체 틀 4"/>
          <p:cNvSpPr>
            <a:spLocks noGrp="1"/>
          </p:cNvSpPr>
          <p:nvPr>
            <p:ph type="ftr" sz="quarter" idx="3"/>
          </p:nvPr>
        </p:nvSpPr>
        <p:spPr>
          <a:xfrm>
            <a:off x="3124200" y="6429396"/>
            <a:ext cx="2895600" cy="292079"/>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429396"/>
            <a:ext cx="2133600" cy="292079"/>
          </a:xfrm>
          <a:prstGeom prst="rect">
            <a:avLst/>
          </a:prstGeom>
        </p:spPr>
        <p:txBody>
          <a:bodyPr vert="horz" lIns="91440" tIns="45720" rIns="91440" bIns="45720" rtlCol="0" anchor="ctr"/>
          <a:lstStyle>
            <a:lvl1pPr algn="r">
              <a:defRPr sz="1200">
                <a:solidFill>
                  <a:schemeClr val="tx1">
                    <a:tint val="75000"/>
                  </a:schemeClr>
                </a:solidFill>
              </a:defRPr>
            </a:lvl1pPr>
          </a:lstStyle>
          <a:p>
            <a:fld id="{EE6BC638-39B7-4287-91A7-2A3DDA573295}" type="slidenum">
              <a:rPr lang="ko-KR" altLang="en-US" smtClean="0"/>
              <a:pPr/>
              <a:t>‹#›</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5" r:id="rId2"/>
    <p:sldLayoutId id="2147483651" r:id="rId3"/>
    <p:sldLayoutId id="2147483656" r:id="rId4"/>
    <p:sldLayoutId id="2147483650" r:id="rId5"/>
    <p:sldLayoutId id="2147483657" r:id="rId6"/>
  </p:sldLayoutIdLst>
  <p:txStyles>
    <p:titleStyle>
      <a:lvl1pPr algn="l" defTabSz="914400" rtl="0" eaLnBrk="1" latinLnBrk="1" hangingPunct="1">
        <a:spcBef>
          <a:spcPct val="0"/>
        </a:spcBef>
        <a:buNone/>
        <a:defRPr lang="ko-KR" altLang="en-US" sz="3500" kern="1200">
          <a:solidFill>
            <a:sysClr val="windowText" lastClr="000000"/>
          </a:solidFill>
          <a:latin typeface="맑은 고딕" pitchFamily="50" charset="-127"/>
          <a:ea typeface="맑은 고딕" pitchFamily="50" charset="-127"/>
          <a:cs typeface="+mj-cs"/>
        </a:defRPr>
      </a:lvl1pPr>
    </p:titleStyle>
    <p:bodyStyle>
      <a:lvl1pPr marL="342900" indent="-342900" algn="l" defTabSz="914400" rtl="0" eaLnBrk="1" latinLnBrk="1" hangingPunct="1">
        <a:spcBef>
          <a:spcPct val="20000"/>
        </a:spcBef>
        <a:buFont typeface="Arial" pitchFamily="34" charset="0"/>
        <a:buChar char="•"/>
        <a:defRPr lang="ko-KR" altLang="en-US" sz="2500" kern="1200" smtClean="0">
          <a:solidFill>
            <a:schemeClr val="tx1"/>
          </a:solidFill>
          <a:latin typeface="맑은 고딕" pitchFamily="50" charset="-127"/>
          <a:ea typeface="맑은 고딕" pitchFamily="50" charset="-127"/>
          <a:cs typeface="+mn-cs"/>
        </a:defRPr>
      </a:lvl1pPr>
      <a:lvl2pPr marL="742950" indent="-28575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2pPr>
      <a:lvl3pPr marL="1143000" indent="-22860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3pPr>
      <a:lvl4pPr marL="1600200" indent="-22860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4pPr>
      <a:lvl5pPr marL="2057400" indent="-228600" algn="l" defTabSz="914400" rtl="0" eaLnBrk="1" latinLnBrk="1" hangingPunct="1">
        <a:spcBef>
          <a:spcPct val="20000"/>
        </a:spcBef>
        <a:buFont typeface="Arial" pitchFamily="34" charset="0"/>
        <a:buChar char="»"/>
        <a:defRPr lang="ko-KR" altLang="en-US" sz="1800" kern="1200">
          <a:solidFill>
            <a:schemeClr val="tx1"/>
          </a:solidFill>
          <a:latin typeface="맑은 고딕" pitchFamily="50" charset="-127"/>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p:cNvSpPr>
            <a:spLocks noGrp="1"/>
          </p:cNvSpPr>
          <p:nvPr>
            <p:ph type="ctrTitle"/>
          </p:nvPr>
        </p:nvSpPr>
        <p:spPr>
          <a:xfrm>
            <a:off x="3131840" y="1052736"/>
            <a:ext cx="5832648" cy="4104456"/>
          </a:xfrm>
        </p:spPr>
        <p:txBody>
          <a:bodyPr/>
          <a:lstStyle/>
          <a:p>
            <a:r>
              <a:rPr lang="en-US" altLang="ko-KR" dirty="0" smtClean="0"/>
              <a:t>STOCK PRICE PREDICTION</a:t>
            </a:r>
            <a:br>
              <a:rPr lang="en-US" altLang="ko-KR" dirty="0" smtClean="0"/>
            </a:br>
            <a:r>
              <a:rPr lang="en-US" altLang="ko-KR" b="1" dirty="0" smtClean="0">
                <a:solidFill>
                  <a:schemeClr val="accent5"/>
                </a:solidFill>
              </a:rPr>
              <a:t>WITH MACHINE LEARNING USING PYTHON</a:t>
            </a:r>
            <a:endParaRPr lang="ko-KR" altLang="en-US" b="1" dirty="0">
              <a:solidFill>
                <a:schemeClr val="accent5"/>
              </a:solidFill>
            </a:endParaRPr>
          </a:p>
        </p:txBody>
      </p:sp>
      <p:sp>
        <p:nvSpPr>
          <p:cNvPr id="18" name="직사각형 17"/>
          <p:cNvSpPr/>
          <p:nvPr/>
        </p:nvSpPr>
        <p:spPr>
          <a:xfrm>
            <a:off x="3707904" y="5517232"/>
            <a:ext cx="3640179" cy="369332"/>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algn="ctr" fontAlgn="base">
              <a:spcBef>
                <a:spcPct val="0"/>
              </a:spcBef>
              <a:spcAft>
                <a:spcPct val="0"/>
              </a:spcAft>
            </a:pPr>
            <a:r>
              <a:rPr kumimoji="1" lang="en-US" altLang="ko-KR" dirty="0" smtClean="0">
                <a:solidFill>
                  <a:schemeClr val="tx2">
                    <a:lumMod val="50000"/>
                  </a:schemeClr>
                </a:solidFill>
                <a:latin typeface="+mj-lt"/>
                <a:ea typeface="맑은 고딕" pitchFamily="50" charset="-127"/>
                <a:cs typeface="굴림" pitchFamily="50" charset="-127"/>
              </a:rPr>
              <a:t>BY : HRIDAYA TAYADE</a:t>
            </a:r>
            <a:endParaRPr kumimoji="1" lang="en-US" altLang="ko-KR" dirty="0">
              <a:solidFill>
                <a:schemeClr val="tx2">
                  <a:lumMod val="50000"/>
                </a:schemeClr>
              </a:solidFill>
              <a:latin typeface="+mj-lt"/>
              <a:ea typeface="맑은 고딕" pitchFamily="50" charset="-127"/>
              <a:cs typeface="굴림" pitchFamily="50" charset="-127"/>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PREDICTING STOCK PRICES</a:t>
            </a:r>
            <a:endParaRPr lang="ko-KR" altLang="en-US" dirty="0"/>
          </a:p>
        </p:txBody>
      </p:sp>
      <p:sp>
        <p:nvSpPr>
          <p:cNvPr id="37" name="내용 개체 틀 36"/>
          <p:cNvSpPr>
            <a:spLocks noGrp="1"/>
          </p:cNvSpPr>
          <p:nvPr>
            <p:ph idx="1"/>
          </p:nvPr>
        </p:nvSpPr>
        <p:spPr>
          <a:xfrm>
            <a:off x="395536" y="1268760"/>
            <a:ext cx="3960439" cy="5184576"/>
          </a:xfrm>
        </p:spPr>
        <p:txBody>
          <a:bodyPr>
            <a:normAutofit fontScale="85000" lnSpcReduction="10000"/>
          </a:bodyPr>
          <a:lstStyle/>
          <a:p>
            <a:r>
              <a:rPr lang="en-US" sz="1900" b="1" dirty="0">
                <a:solidFill>
                  <a:schemeClr val="tx2">
                    <a:lumMod val="50000"/>
                  </a:schemeClr>
                </a:solidFill>
              </a:rPr>
              <a:t>Why Stock Prices are Challenging to Predict</a:t>
            </a:r>
          </a:p>
          <a:p>
            <a:r>
              <a:rPr lang="en-US" b="1" dirty="0"/>
              <a:t>1. High Volatility and Noise</a:t>
            </a:r>
          </a:p>
          <a:p>
            <a:r>
              <a:rPr lang="en-US" dirty="0"/>
              <a:t>Stock prices are influenced by a chaotic mix of variables, ranging from global political shifts and interest rate changes to sudden social media trends. This creates "noise"—short-term price fluctuations that don't follow a clear trend. Unlike a physics experiment where variables are controlled, market volatility is often driven by human emotion (fear and greed), which is notoriously difficult to quantify.</a:t>
            </a:r>
          </a:p>
          <a:p>
            <a:r>
              <a:rPr lang="en-US" b="1" dirty="0"/>
              <a:t>2. Non-Linear Patterns</a:t>
            </a:r>
          </a:p>
          <a:p>
            <a:r>
              <a:rPr lang="en-US" dirty="0"/>
              <a:t>Traditional math often looks for "linear" relationships—where if </a:t>
            </a:r>
            <a:r>
              <a:rPr lang="en-US" b="1" dirty="0"/>
              <a:t>X</a:t>
            </a:r>
            <a:r>
              <a:rPr lang="en-US" dirty="0"/>
              <a:t> happens, </a:t>
            </a:r>
            <a:r>
              <a:rPr lang="en-US" b="1" dirty="0"/>
              <a:t>Y</a:t>
            </a:r>
            <a:r>
              <a:rPr lang="en-US" dirty="0"/>
              <a:t> follows in a straight line. However, the stock market is </a:t>
            </a:r>
            <a:r>
              <a:rPr lang="en-US" b="1" dirty="0"/>
              <a:t>non-linear</a:t>
            </a:r>
            <a:r>
              <a:rPr lang="en-US" dirty="0"/>
              <a:t>. A small change in a company’s earnings might cause a massive crash one day, but have zero impact the next, depending on the broader economic context.</a:t>
            </a:r>
          </a:p>
          <a:p>
            <a:r>
              <a:rPr lang="en-US" b="1" dirty="0"/>
              <a:t>3. The Efficient Market Hypothesis (EMH)</a:t>
            </a:r>
          </a:p>
          <a:p>
            <a:r>
              <a:rPr lang="en-US" dirty="0"/>
              <a:t>There is also the challenge of the "Efficient Market." This theory suggests that all known information is already reflected in a stock's price. Therefore, to predict the future price, you must predict new information that hasn't happened yet.</a:t>
            </a:r>
          </a:p>
          <a:p>
            <a:endParaRPr lang="en-US" altLang="ko-KR" dirty="0"/>
          </a:p>
        </p:txBody>
      </p:sp>
      <p:sp>
        <p:nvSpPr>
          <p:cNvPr id="3" name="TextBox 2"/>
          <p:cNvSpPr txBox="1"/>
          <p:nvPr/>
        </p:nvSpPr>
        <p:spPr>
          <a:xfrm>
            <a:off x="4427984" y="1268760"/>
            <a:ext cx="4536504" cy="5755422"/>
          </a:xfrm>
          <a:prstGeom prst="rect">
            <a:avLst/>
          </a:prstGeom>
          <a:noFill/>
        </p:spPr>
        <p:txBody>
          <a:bodyPr wrap="square" rtlCol="0">
            <a:spAutoFit/>
          </a:bodyPr>
          <a:lstStyle/>
          <a:p>
            <a:r>
              <a:rPr lang="en-US" sz="1400" b="1" i="1" dirty="0">
                <a:latin typeface="+mj-lt"/>
              </a:rPr>
              <a:t>ML vs. Traditional Statistical Methods</a:t>
            </a:r>
          </a:p>
          <a:p>
            <a:r>
              <a:rPr lang="en-US" sz="1400" i="1" dirty="0">
                <a:solidFill>
                  <a:schemeClr val="tx1">
                    <a:lumMod val="75000"/>
                    <a:lumOff val="25000"/>
                  </a:schemeClr>
                </a:solidFill>
                <a:latin typeface="+mj-lt"/>
              </a:rPr>
              <a:t>Traditional statistical models, like ARIMA (</a:t>
            </a:r>
            <a:r>
              <a:rPr lang="en-US" sz="1400" i="1" dirty="0" err="1">
                <a:solidFill>
                  <a:schemeClr val="tx1">
                    <a:lumMod val="75000"/>
                    <a:lumOff val="25000"/>
                  </a:schemeClr>
                </a:solidFill>
                <a:latin typeface="+mj-lt"/>
              </a:rPr>
              <a:t>AutoRegressive</a:t>
            </a:r>
            <a:r>
              <a:rPr lang="en-US" sz="1400" i="1" dirty="0">
                <a:solidFill>
                  <a:schemeClr val="tx1">
                    <a:lumMod val="75000"/>
                    <a:lumOff val="25000"/>
                  </a:schemeClr>
                </a:solidFill>
                <a:latin typeface="+mj-lt"/>
              </a:rPr>
              <a:t> Integrated Moving Average), were the gold standard for decades. However, Machine Learning (ML) offers several advantages for modern markets:</a:t>
            </a:r>
          </a:p>
          <a:p>
            <a:r>
              <a:rPr lang="en-US" sz="1400" i="1" dirty="0">
                <a:solidFill>
                  <a:schemeClr val="tx1">
                    <a:lumMod val="75000"/>
                    <a:lumOff val="25000"/>
                  </a:schemeClr>
                </a:solidFill>
                <a:latin typeface="+mj-lt"/>
              </a:rPr>
              <a:t>Handling Dimensionality</a:t>
            </a:r>
          </a:p>
          <a:p>
            <a:r>
              <a:rPr lang="en-US" sz="1400" i="1" dirty="0">
                <a:solidFill>
                  <a:schemeClr val="tx1">
                    <a:lumMod val="75000"/>
                    <a:lumOff val="25000"/>
                  </a:schemeClr>
                </a:solidFill>
                <a:latin typeface="+mj-lt"/>
              </a:rPr>
              <a:t>Traditional statistics usually focus on a few variables (like past price and volume). In contrast, ML models—especially Neural Networks—can process thousands of data points simultaneously, including "alternative data" like news headlines, satellite imagery of retail parking lots, or sentiment analysis from financial reports.</a:t>
            </a:r>
          </a:p>
          <a:p>
            <a:r>
              <a:rPr lang="en-US" sz="1400" i="1" dirty="0">
                <a:solidFill>
                  <a:schemeClr val="tx1">
                    <a:lumMod val="75000"/>
                    <a:lumOff val="25000"/>
                  </a:schemeClr>
                </a:solidFill>
                <a:latin typeface="+mj-lt"/>
              </a:rPr>
              <a:t>Detecting Non-Linearity</a:t>
            </a:r>
          </a:p>
          <a:p>
            <a:r>
              <a:rPr lang="en-US" sz="1400" i="1" dirty="0">
                <a:solidFill>
                  <a:schemeClr val="tx1">
                    <a:lumMod val="75000"/>
                    <a:lumOff val="25000"/>
                  </a:schemeClr>
                </a:solidFill>
                <a:latin typeface="+mj-lt"/>
              </a:rPr>
              <a:t>While traditional models struggle with the "curves" of the market, ML algorithms like Random Forests or Gradient Boosting are designed to find complex, non-linear relationships. They don't assume a straight-line relationship; they look for patterns in the chaos.</a:t>
            </a:r>
          </a:p>
          <a:p>
            <a:r>
              <a:rPr lang="en-US" sz="1400" i="1" dirty="0">
                <a:solidFill>
                  <a:schemeClr val="tx1">
                    <a:lumMod val="75000"/>
                    <a:lumOff val="25000"/>
                  </a:schemeClr>
                </a:solidFill>
                <a:latin typeface="+mj-lt"/>
              </a:rPr>
              <a:t>Adaptability</a:t>
            </a:r>
          </a:p>
          <a:p>
            <a:r>
              <a:rPr lang="en-US" sz="1400" i="1" dirty="0">
                <a:solidFill>
                  <a:schemeClr val="tx1">
                    <a:lumMod val="75000"/>
                    <a:lumOff val="25000"/>
                  </a:schemeClr>
                </a:solidFill>
                <a:latin typeface="+mj-lt"/>
              </a:rPr>
              <a:t>A traditional statistical model is often "static." Once you set the formula, it stays that way until a human changes it. ML models can be designed to continually learn. As new market data comes in, the model can adjust its internal logic to account for shifting trends, making it far more resilient to sudden market changes.</a:t>
            </a:r>
          </a:p>
          <a:p>
            <a:endParaRPr lang="en-US" dirty="0">
              <a:solidFill>
                <a:schemeClr val="tx1">
                  <a:lumMod val="75000"/>
                  <a:lumOff val="2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내용 개체 틀 5"/>
          <p:cNvSpPr>
            <a:spLocks noGrp="1"/>
          </p:cNvSpPr>
          <p:nvPr>
            <p:ph idx="1"/>
          </p:nvPr>
        </p:nvSpPr>
        <p:spPr>
          <a:xfrm>
            <a:off x="467544" y="1628800"/>
            <a:ext cx="8402525" cy="4881686"/>
          </a:xfrm>
        </p:spPr>
        <p:txBody>
          <a:bodyPr>
            <a:normAutofit fontScale="92500" lnSpcReduction="10000"/>
          </a:bodyPr>
          <a:lstStyle/>
          <a:p>
            <a:r>
              <a:rPr lang="en-US" i="0" smtClean="0">
                <a:solidFill>
                  <a:schemeClr val="tx2">
                    <a:lumMod val="50000"/>
                  </a:schemeClr>
                </a:solidFill>
                <a:latin typeface="Arial Rounded MT Bold" pitchFamily="34" charset="0"/>
              </a:rPr>
              <a:t>1. The Data Source</a:t>
            </a:r>
          </a:p>
          <a:p>
            <a:r>
              <a:rPr lang="en-US" i="0" smtClean="0">
                <a:solidFill>
                  <a:schemeClr val="tx2">
                    <a:lumMod val="50000"/>
                  </a:schemeClr>
                </a:solidFill>
                <a:latin typeface="Arial Rounded MT Bold" pitchFamily="34" charset="0"/>
              </a:rPr>
              <a:t>Identify how you pulled the data. In the Python ecosystem for 2026, the most common methods are:</a:t>
            </a:r>
          </a:p>
          <a:p>
            <a:pPr>
              <a:buFont typeface="Arial" pitchFamily="34" charset="0"/>
              <a:buChar char="•"/>
            </a:pPr>
            <a:r>
              <a:rPr lang="en-US" i="0" smtClean="0">
                <a:solidFill>
                  <a:schemeClr val="tx2">
                    <a:lumMod val="50000"/>
                  </a:schemeClr>
                </a:solidFill>
                <a:latin typeface="Arial Rounded MT Bold" pitchFamily="34" charset="0"/>
              </a:rPr>
              <a:t>yfinance: The industry standard for free, reliable historical data from Yahoo Finance.</a:t>
            </a:r>
          </a:p>
          <a:p>
            <a:pPr>
              <a:buFont typeface="Arial" pitchFamily="34" charset="0"/>
              <a:buChar char="•"/>
            </a:pPr>
            <a:r>
              <a:rPr lang="en-US" i="0" smtClean="0">
                <a:solidFill>
                  <a:schemeClr val="tx2">
                    <a:lumMod val="50000"/>
                  </a:schemeClr>
                </a:solidFill>
                <a:latin typeface="Arial Rounded MT Bold" pitchFamily="34" charset="0"/>
              </a:rPr>
              <a:t>Alpha Vantage / Polygon.io: Professional-grade APIs (often used if you need real-time data or more precise "adjusted" prices).</a:t>
            </a:r>
          </a:p>
          <a:p>
            <a:pPr>
              <a:buFont typeface="Arial" pitchFamily="34" charset="0"/>
              <a:buChar char="•"/>
            </a:pPr>
            <a:r>
              <a:rPr lang="en-US" i="0" smtClean="0">
                <a:solidFill>
                  <a:schemeClr val="tx2">
                    <a:lumMod val="50000"/>
                  </a:schemeClr>
                </a:solidFill>
                <a:latin typeface="Arial Rounded MT Bold" pitchFamily="34" charset="0"/>
              </a:rPr>
              <a:t>pandas_datareader: A legacy but stable way to pull from multiple sources like St. Louis Fed (FRED) or Fama-French.</a:t>
            </a:r>
          </a:p>
          <a:p>
            <a:pPr marL="0" indent="0"/>
            <a:endParaRPr lang="en-US" i="0" smtClean="0">
              <a:solidFill>
                <a:schemeClr val="tx2">
                  <a:lumMod val="50000"/>
                </a:schemeClr>
              </a:solidFill>
              <a:latin typeface="Arial Rounded MT Bold" pitchFamily="34" charset="0"/>
            </a:endParaRPr>
          </a:p>
          <a:p>
            <a:r>
              <a:rPr lang="en-US" i="0" smtClean="0">
                <a:solidFill>
                  <a:schemeClr val="tx2">
                    <a:lumMod val="50000"/>
                  </a:schemeClr>
                </a:solidFill>
                <a:latin typeface="Arial Rounded MT Bold" pitchFamily="34" charset="0"/>
              </a:rPr>
              <a:t>2. Key Features (OHLCV)</a:t>
            </a:r>
          </a:p>
          <a:p>
            <a:r>
              <a:rPr lang="en-US" i="0" smtClean="0">
                <a:solidFill>
                  <a:schemeClr val="tx2">
                    <a:lumMod val="50000"/>
                  </a:schemeClr>
                </a:solidFill>
                <a:latin typeface="Arial Rounded MT Bold" pitchFamily="34" charset="0"/>
              </a:rPr>
              <a:t>Explain that you aren't just looking at one number. A "Data Point" in stock prediction usually consists of:</a:t>
            </a:r>
          </a:p>
          <a:p>
            <a:pPr>
              <a:buFont typeface="Arial" pitchFamily="34" charset="0"/>
              <a:buChar char="•"/>
            </a:pPr>
            <a:r>
              <a:rPr lang="en-US" i="0" smtClean="0">
                <a:solidFill>
                  <a:schemeClr val="tx2">
                    <a:lumMod val="50000"/>
                  </a:schemeClr>
                </a:solidFill>
                <a:latin typeface="Arial Rounded MT Bold" pitchFamily="34" charset="0"/>
              </a:rPr>
              <a:t>Open: The price at the first trade of the day.</a:t>
            </a:r>
          </a:p>
          <a:p>
            <a:pPr>
              <a:buFont typeface="Arial" pitchFamily="34" charset="0"/>
              <a:buChar char="•"/>
            </a:pPr>
            <a:r>
              <a:rPr lang="en-US" i="0" smtClean="0">
                <a:solidFill>
                  <a:schemeClr val="tx2">
                    <a:lumMod val="50000"/>
                  </a:schemeClr>
                </a:solidFill>
                <a:latin typeface="Arial Rounded MT Bold" pitchFamily="34" charset="0"/>
              </a:rPr>
              <a:t>High &amp; Low: The extreme volatility boundaries for that session.</a:t>
            </a:r>
          </a:p>
          <a:p>
            <a:pPr>
              <a:buFont typeface="Arial" pitchFamily="34" charset="0"/>
              <a:buChar char="•"/>
            </a:pPr>
            <a:r>
              <a:rPr lang="en-US" i="0" smtClean="0">
                <a:solidFill>
                  <a:schemeClr val="tx2">
                    <a:lumMod val="50000"/>
                  </a:schemeClr>
                </a:solidFill>
                <a:latin typeface="Arial Rounded MT Bold" pitchFamily="34" charset="0"/>
              </a:rPr>
              <a:t>Close: The final price (often the "Target Variable" we try to predict).</a:t>
            </a:r>
          </a:p>
          <a:p>
            <a:pPr>
              <a:buFont typeface="Arial" pitchFamily="34" charset="0"/>
              <a:buChar char="•"/>
            </a:pPr>
            <a:r>
              <a:rPr lang="en-US" i="0" smtClean="0">
                <a:solidFill>
                  <a:schemeClr val="tx2">
                    <a:lumMod val="50000"/>
                  </a:schemeClr>
                </a:solidFill>
                <a:latin typeface="Arial Rounded MT Bold" pitchFamily="34" charset="0"/>
              </a:rPr>
              <a:t>Adj Close: Adjusted for dividends and stock splits (essential for accurate long-term ML models).</a:t>
            </a:r>
          </a:p>
          <a:p>
            <a:pPr>
              <a:buFont typeface="Arial" pitchFamily="34" charset="0"/>
              <a:buChar char="•"/>
            </a:pPr>
            <a:r>
              <a:rPr lang="en-US" i="0" smtClean="0">
                <a:solidFill>
                  <a:schemeClr val="tx2">
                    <a:lumMod val="50000"/>
                  </a:schemeClr>
                </a:solidFill>
                <a:latin typeface="Arial Rounded MT Bold" pitchFamily="34" charset="0"/>
              </a:rPr>
              <a:t>Volume: The number of shares traded (shows the "strength" behind a price movement).</a:t>
            </a:r>
          </a:p>
          <a:p>
            <a:endParaRPr lang="en-US" altLang="ko-KR" dirty="0"/>
          </a:p>
        </p:txBody>
      </p:sp>
      <p:sp>
        <p:nvSpPr>
          <p:cNvPr id="5" name="제목 1"/>
          <p:cNvSpPr>
            <a:spLocks noGrp="1"/>
          </p:cNvSpPr>
          <p:nvPr>
            <p:ph type="title"/>
          </p:nvPr>
        </p:nvSpPr>
        <p:spPr/>
        <p:txBody>
          <a:bodyPr/>
          <a:lstStyle/>
          <a:p>
            <a:r>
              <a:rPr lang="en-US" altLang="ko-KR" smtClean="0"/>
              <a:t>DATA COLLECTION</a:t>
            </a:r>
            <a:endParaRPr lang="ko-KR"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b="1" dirty="0"/>
              <a:t>1. Handling Missing Values</a:t>
            </a:r>
          </a:p>
          <a:p>
            <a:r>
              <a:rPr lang="en-US" altLang="en-US" dirty="0"/>
              <a:t>Financial data occasionally has "gaps" due to holidays or technical glitches.</a:t>
            </a:r>
          </a:p>
          <a:p>
            <a:r>
              <a:rPr lang="en-US" altLang="en-US" b="1" dirty="0"/>
              <a:t>Method:</a:t>
            </a:r>
            <a:r>
              <a:rPr lang="en-US" altLang="en-US" dirty="0"/>
              <a:t> Instead of deleting rows (which breaks the time sequence), we use </a:t>
            </a:r>
            <a:r>
              <a:rPr lang="en-US" altLang="en-US" b="1" dirty="0"/>
              <a:t>Forward Fill (</a:t>
            </a:r>
            <a:r>
              <a:rPr lang="en-US" altLang="en-US" b="1" dirty="0" err="1"/>
              <a:t>ffill</a:t>
            </a:r>
            <a:r>
              <a:rPr lang="en-US" altLang="en-US" b="1" dirty="0"/>
              <a:t>)</a:t>
            </a:r>
            <a:r>
              <a:rPr lang="en-US" altLang="en-US" dirty="0"/>
              <a:t>.</a:t>
            </a:r>
          </a:p>
          <a:p>
            <a:r>
              <a:rPr lang="en-US" altLang="en-US" b="1" dirty="0"/>
              <a:t>Logic:</a:t>
            </a:r>
            <a:r>
              <a:rPr lang="en-US" altLang="en-US" dirty="0"/>
              <a:t> This assumes the price remains the same as the last known price until a new trade occurs.</a:t>
            </a:r>
          </a:p>
          <a:p>
            <a:endParaRPr lang="en-US" altLang="en-US" b="1" dirty="0" smtClean="0"/>
          </a:p>
          <a:p>
            <a:r>
              <a:rPr lang="en-US" altLang="en-US" b="1" dirty="0" smtClean="0"/>
              <a:t>2</a:t>
            </a:r>
            <a:r>
              <a:rPr lang="en-US" altLang="en-US" b="1" dirty="0"/>
              <a:t>. Data Scaling (Normalization)</a:t>
            </a:r>
          </a:p>
          <a:p>
            <a:r>
              <a:rPr lang="en-US" altLang="en-US" dirty="0"/>
              <a:t>Since we often use </a:t>
            </a:r>
            <a:r>
              <a:rPr lang="en-US" altLang="en-US" b="1" dirty="0"/>
              <a:t>LSTMs</a:t>
            </a:r>
            <a:r>
              <a:rPr lang="en-US" altLang="en-US" dirty="0"/>
              <a:t> or </a:t>
            </a:r>
            <a:r>
              <a:rPr lang="en-US" altLang="en-US" b="1" dirty="0"/>
              <a:t>SVR</a:t>
            </a:r>
            <a:r>
              <a:rPr lang="en-US" altLang="en-US" dirty="0"/>
              <a:t>, we must bring all values into a specific range (usually 0 to 1).</a:t>
            </a:r>
          </a:p>
          <a:p>
            <a:r>
              <a:rPr lang="en-US" altLang="en-US" b="1" dirty="0"/>
              <a:t>Tool:</a:t>
            </a:r>
            <a:r>
              <a:rPr lang="en-US" altLang="en-US" dirty="0"/>
              <a:t> </a:t>
            </a:r>
            <a:r>
              <a:rPr lang="en-US" altLang="en-US" dirty="0" err="1"/>
              <a:t>MinMaxScaler</a:t>
            </a:r>
            <a:r>
              <a:rPr lang="en-US" altLang="en-US" dirty="0"/>
              <a:t> from </a:t>
            </a:r>
            <a:r>
              <a:rPr lang="en-US" altLang="en-US" dirty="0" err="1"/>
              <a:t>scikit</a:t>
            </a:r>
            <a:r>
              <a:rPr lang="en-US" altLang="en-US" dirty="0"/>
              <a:t>-learn</a:t>
            </a:r>
            <a:r>
              <a:rPr lang="en-US" altLang="en-US" dirty="0" smtClean="0"/>
              <a:t>.</a:t>
            </a:r>
          </a:p>
          <a:p>
            <a:r>
              <a:rPr lang="en-US" altLang="en-US" dirty="0" smtClean="0"/>
              <a:t>It </a:t>
            </a:r>
            <a:r>
              <a:rPr lang="en-US" altLang="en-US" dirty="0"/>
              <a:t>prevents the "Volume" feature (in millions) from over-powering the "Price" feature (in hundreds) during model training.</a:t>
            </a:r>
          </a:p>
          <a:p>
            <a:endParaRPr lang="en-US" altLang="en-US" b="1" dirty="0" smtClean="0"/>
          </a:p>
          <a:p>
            <a:r>
              <a:rPr lang="en-US" altLang="en-US" b="1" dirty="0" smtClean="0"/>
              <a:t>3</a:t>
            </a:r>
            <a:r>
              <a:rPr lang="en-US" altLang="en-US" b="1" dirty="0"/>
              <a:t>. Creating Time-Series Sequences (The "Sliding Window")</a:t>
            </a:r>
          </a:p>
          <a:p>
            <a:r>
              <a:rPr lang="en-US" altLang="en-US" dirty="0"/>
              <a:t>ML models need to look at a "window" of the past to predict the future.</a:t>
            </a:r>
          </a:p>
          <a:p>
            <a:r>
              <a:rPr lang="en-US" altLang="en-US" b="1" dirty="0"/>
              <a:t>The Logic:</a:t>
            </a:r>
            <a:r>
              <a:rPr lang="en-US" altLang="en-US" dirty="0"/>
              <a:t> If we want to predict tomorrow's </a:t>
            </a:r>
            <a:r>
              <a:rPr lang="en-US" altLang="en-US" dirty="0" smtClean="0"/>
              <a:t>PRICE, we </a:t>
            </a:r>
            <a:r>
              <a:rPr lang="en-US" altLang="en-US" dirty="0"/>
              <a:t>feed the model the last 60 days of </a:t>
            </a:r>
            <a:r>
              <a:rPr lang="en-US" altLang="en-US" dirty="0" smtClean="0"/>
              <a:t>data.</a:t>
            </a:r>
            <a:endParaRPr lang="en-US" altLang="en-US" dirty="0"/>
          </a:p>
          <a:p>
            <a:r>
              <a:rPr lang="en-US" altLang="en-US" b="1" dirty="0"/>
              <a:t>Structure:</a:t>
            </a:r>
            <a:r>
              <a:rPr lang="en-US" altLang="en-US" dirty="0"/>
              <a:t> We transform the flat table into a 3D array (Samples, Time Steps, Features).</a:t>
            </a:r>
          </a:p>
          <a:p>
            <a:endParaRPr lang="en-US" dirty="0"/>
          </a:p>
        </p:txBody>
      </p:sp>
      <p:sp>
        <p:nvSpPr>
          <p:cNvPr id="3" name="Title 2"/>
          <p:cNvSpPr>
            <a:spLocks noGrp="1"/>
          </p:cNvSpPr>
          <p:nvPr>
            <p:ph type="title"/>
          </p:nvPr>
        </p:nvSpPr>
        <p:spPr/>
        <p:txBody>
          <a:bodyPr>
            <a:normAutofit fontScale="90000"/>
          </a:bodyPr>
          <a:lstStyle/>
          <a:p>
            <a:r>
              <a:rPr lang="en-US" dirty="0" smtClean="0"/>
              <a:t>DATA PREPROCESSING AND FEATURES ENGINEERING</a:t>
            </a:r>
            <a:endParaRPr lang="en-US" dirty="0"/>
          </a:p>
        </p:txBody>
      </p:sp>
    </p:spTree>
    <p:extLst>
      <p:ext uri="{BB962C8B-B14F-4D97-AF65-F5344CB8AC3E}">
        <p14:creationId xmlns:p14="http://schemas.microsoft.com/office/powerpoint/2010/main" val="4166350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sz="1800" b="1" dirty="0"/>
              <a:t>1. Trend Indicators: Moving Averages (MA)</a:t>
            </a:r>
          </a:p>
          <a:p>
            <a:r>
              <a:rPr lang="en-US" altLang="en-US" sz="1800" b="1" dirty="0"/>
              <a:t>Simple Moving Average (SMA):</a:t>
            </a:r>
            <a:r>
              <a:rPr lang="en-US" altLang="en-US" sz="1800" dirty="0"/>
              <a:t> The average price over a specific period (e.g., 20-day or 50-day).</a:t>
            </a:r>
          </a:p>
          <a:p>
            <a:r>
              <a:rPr lang="en-US" altLang="en-US" sz="1800" b="1" dirty="0"/>
              <a:t>Why it matters:</a:t>
            </a:r>
            <a:r>
              <a:rPr lang="en-US" altLang="en-US" sz="1800" dirty="0"/>
              <a:t> It "</a:t>
            </a:r>
            <a:r>
              <a:rPr lang="en-US" altLang="en-US" sz="1800" dirty="0" err="1"/>
              <a:t>smooths</a:t>
            </a:r>
            <a:r>
              <a:rPr lang="en-US" altLang="en-US" sz="1800" dirty="0"/>
              <a:t>" out daily price noise to show the underlying trend. If the current price is far above the 50-day MA, the stock might be overextended.</a:t>
            </a:r>
          </a:p>
          <a:p>
            <a:r>
              <a:rPr lang="en-US" altLang="en-US" sz="1800" b="1" dirty="0"/>
              <a:t>2. Momentum Indicators: Relative Strength Index (RSI)</a:t>
            </a:r>
          </a:p>
          <a:p>
            <a:r>
              <a:rPr lang="en-US" altLang="en-US" sz="1800" b="1" dirty="0"/>
              <a:t>Definition:</a:t>
            </a:r>
            <a:r>
              <a:rPr lang="en-US" altLang="en-US" sz="1800" dirty="0"/>
              <a:t> A momentum oscillator that measures the speed and change of price movements.</a:t>
            </a:r>
          </a:p>
          <a:p>
            <a:r>
              <a:rPr lang="en-US" altLang="en-US" sz="1800" b="1" dirty="0"/>
              <a:t>Why it matters:</a:t>
            </a:r>
            <a:r>
              <a:rPr lang="en-US" altLang="en-US" sz="1800" dirty="0"/>
              <a:t> It tells the model if a stock is </a:t>
            </a:r>
            <a:r>
              <a:rPr lang="en-US" altLang="en-US" sz="1800" b="1" dirty="0"/>
              <a:t>"Overbought"</a:t>
            </a:r>
            <a:r>
              <a:rPr lang="en-US" altLang="en-US" sz="1800" dirty="0"/>
              <a:t> (RSI &gt; 70) or </a:t>
            </a:r>
            <a:r>
              <a:rPr lang="en-US" altLang="en-US" sz="1800" b="1" dirty="0"/>
              <a:t>"Oversold"</a:t>
            </a:r>
            <a:r>
              <a:rPr lang="en-US" altLang="en-US" sz="1800" dirty="0"/>
              <a:t> (RSI &lt; 30), which are classic signals for a potential price reversal.</a:t>
            </a:r>
          </a:p>
          <a:p>
            <a:r>
              <a:rPr lang="en-US" altLang="en-US" sz="1800" b="1" dirty="0"/>
              <a:t>3. Temporal Features: Lagged Returns</a:t>
            </a:r>
          </a:p>
          <a:p>
            <a:r>
              <a:rPr lang="en-US" altLang="en-US" sz="1800" b="1" dirty="0"/>
              <a:t>Definition:</a:t>
            </a:r>
            <a:r>
              <a:rPr lang="en-US" altLang="en-US" sz="1800" dirty="0"/>
              <a:t> The percentage change in price from $t-1$, $t-2$, or $t-7$ days ago.</a:t>
            </a:r>
          </a:p>
          <a:p>
            <a:r>
              <a:rPr lang="en-US" altLang="en-US" sz="1800" b="1" dirty="0"/>
              <a:t>Why it matters:</a:t>
            </a:r>
            <a:r>
              <a:rPr lang="en-US" altLang="en-US" sz="1800" dirty="0"/>
              <a:t> This captures "Autocorrelation"—the tendency of yesterday's performance to influence today's behavior.</a:t>
            </a:r>
          </a:p>
          <a:p>
            <a:endParaRPr lang="en-US" dirty="0"/>
          </a:p>
        </p:txBody>
      </p:sp>
      <p:sp>
        <p:nvSpPr>
          <p:cNvPr id="3" name="Title 2"/>
          <p:cNvSpPr>
            <a:spLocks noGrp="1"/>
          </p:cNvSpPr>
          <p:nvPr>
            <p:ph type="title"/>
          </p:nvPr>
        </p:nvSpPr>
        <p:spPr/>
        <p:txBody>
          <a:bodyPr/>
          <a:lstStyle/>
          <a:p>
            <a:r>
              <a:rPr lang="en-US" dirty="0" smtClean="0"/>
              <a:t>FEATURE ENGINEERING</a:t>
            </a:r>
            <a:endParaRPr lang="en-US" dirty="0"/>
          </a:p>
        </p:txBody>
      </p:sp>
    </p:spTree>
    <p:extLst>
      <p:ext uri="{BB962C8B-B14F-4D97-AF65-F5344CB8AC3E}">
        <p14:creationId xmlns:p14="http://schemas.microsoft.com/office/powerpoint/2010/main" val="4050190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9512" y="1268760"/>
            <a:ext cx="8748464" cy="5328592"/>
          </a:xfrm>
        </p:spPr>
        <p:txBody>
          <a:bodyPr>
            <a:normAutofit fontScale="55000" lnSpcReduction="20000"/>
          </a:bodyPr>
          <a:lstStyle/>
          <a:p>
            <a:r>
              <a:rPr lang="en-US" sz="3300" dirty="0"/>
              <a:t>To find the best fit, we categorized our approach into three tiers of complexity:</a:t>
            </a:r>
          </a:p>
          <a:p>
            <a:r>
              <a:rPr lang="en-US" sz="3300" b="1" dirty="0"/>
              <a:t>1. Baseline: Linear Regression</a:t>
            </a:r>
          </a:p>
          <a:p>
            <a:r>
              <a:rPr lang="en-US" sz="3300" b="1" dirty="0"/>
              <a:t>The Concept:</a:t>
            </a:r>
            <a:r>
              <a:rPr lang="en-US" sz="3300" dirty="0"/>
              <a:t> Predicts the next price point based on a linear relationship between features (like Time or Volume).</a:t>
            </a:r>
          </a:p>
          <a:p>
            <a:r>
              <a:rPr lang="en-US" sz="3300" b="1" dirty="0"/>
              <a:t>Best For:</a:t>
            </a:r>
            <a:r>
              <a:rPr lang="en-US" sz="3300" dirty="0"/>
              <a:t> Capturing long-term upwards or downwards trends.</a:t>
            </a:r>
          </a:p>
          <a:p>
            <a:r>
              <a:rPr lang="en-US" sz="3300" b="1" dirty="0"/>
              <a:t>Weakness:</a:t>
            </a:r>
            <a:r>
              <a:rPr lang="en-US" sz="3300" dirty="0"/>
              <a:t> It struggles with the "</a:t>
            </a:r>
            <a:r>
              <a:rPr lang="en-US" sz="3300" dirty="0" err="1"/>
              <a:t>zig-zag</a:t>
            </a:r>
            <a:r>
              <a:rPr lang="en-US" sz="3300" dirty="0"/>
              <a:t>" volatility of the stock market because it assumes a straight-line relationship.</a:t>
            </a:r>
          </a:p>
          <a:p>
            <a:r>
              <a:rPr lang="en-US" sz="3300" b="1" dirty="0"/>
              <a:t>2. Ensemble Learning: Random Forest</a:t>
            </a:r>
          </a:p>
          <a:p>
            <a:r>
              <a:rPr lang="en-US" sz="3300" b="1" dirty="0"/>
              <a:t>The Concept:</a:t>
            </a:r>
            <a:r>
              <a:rPr lang="en-US" sz="3300" dirty="0"/>
              <a:t> A collection of many "Decision Trees" that vote on the final price.</a:t>
            </a:r>
          </a:p>
          <a:p>
            <a:r>
              <a:rPr lang="en-US" sz="3300" b="1" dirty="0"/>
              <a:t>Best For:</a:t>
            </a:r>
            <a:r>
              <a:rPr lang="en-US" sz="3300" dirty="0"/>
              <a:t> Handling non-linear patterns and "feature importance" (identifying if RSI matters more than Volume).</a:t>
            </a:r>
          </a:p>
          <a:p>
            <a:r>
              <a:rPr lang="en-US" sz="3300" b="1" dirty="0"/>
              <a:t>Advantage:</a:t>
            </a:r>
            <a:r>
              <a:rPr lang="en-US" sz="3300" dirty="0"/>
              <a:t> It is robust to outliers and doesn't require much data scaling compared to deep learning.</a:t>
            </a:r>
          </a:p>
          <a:p>
            <a:r>
              <a:rPr lang="en-US" sz="3300" b="1" dirty="0"/>
              <a:t>3. Deep Learning: LSTM (Long Short-Term Memory)</a:t>
            </a:r>
          </a:p>
          <a:p>
            <a:r>
              <a:rPr lang="en-US" sz="3300" b="1" dirty="0"/>
              <a:t>The Concept:</a:t>
            </a:r>
            <a:r>
              <a:rPr lang="en-US" sz="3300" dirty="0"/>
              <a:t> A specialized type of Recurrent Neural Network (RNN) designed to "remember" information for long periods.</a:t>
            </a:r>
          </a:p>
          <a:p>
            <a:r>
              <a:rPr lang="en-US" sz="3300" b="1" dirty="0"/>
              <a:t>Best For:</a:t>
            </a:r>
            <a:r>
              <a:rPr lang="en-US" sz="3300" dirty="0"/>
              <a:t> Sequential data. It remembers what happened 10 days ago and understands how that affects today.</a:t>
            </a:r>
          </a:p>
          <a:p>
            <a:r>
              <a:rPr lang="en-US" sz="3300" b="1" dirty="0"/>
              <a:t>Why we chose it:</a:t>
            </a:r>
            <a:r>
              <a:rPr lang="en-US" sz="3300" dirty="0"/>
              <a:t> Stock prices aren't random; they are a sequence where the order of events matters.</a:t>
            </a:r>
          </a:p>
          <a:p>
            <a:endParaRPr lang="en-US" dirty="0"/>
          </a:p>
        </p:txBody>
      </p:sp>
      <p:sp>
        <p:nvSpPr>
          <p:cNvPr id="3" name="Title 2"/>
          <p:cNvSpPr>
            <a:spLocks noGrp="1"/>
          </p:cNvSpPr>
          <p:nvPr>
            <p:ph type="title"/>
          </p:nvPr>
        </p:nvSpPr>
        <p:spPr/>
        <p:txBody>
          <a:bodyPr/>
          <a:lstStyle/>
          <a:p>
            <a:r>
              <a:rPr lang="en-US" dirty="0" smtClean="0"/>
              <a:t>MODEL SELECTION</a:t>
            </a:r>
            <a:endParaRPr lang="en-US" dirty="0"/>
          </a:p>
        </p:txBody>
      </p:sp>
    </p:spTree>
    <p:extLst>
      <p:ext uri="{BB962C8B-B14F-4D97-AF65-F5344CB8AC3E}">
        <p14:creationId xmlns:p14="http://schemas.microsoft.com/office/powerpoint/2010/main" val="1096139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altLang="en-US" sz="1700" b="1" dirty="0"/>
              <a:t>1. Mean Absolute Error (MAE)</a:t>
            </a:r>
          </a:p>
          <a:p>
            <a:r>
              <a:rPr lang="en-US" altLang="en-US" sz="1700" dirty="0"/>
              <a:t>MAE measures the average magnitude of the errors in a set of predictions, without considering their direction (positive or negative). It is the linear average of absolute differences.</a:t>
            </a:r>
          </a:p>
          <a:p>
            <a:r>
              <a:rPr lang="en-US" altLang="en-US" sz="1700" b="1" dirty="0" smtClean="0"/>
              <a:t>Characteristics</a:t>
            </a:r>
            <a:r>
              <a:rPr lang="en-US" altLang="en-US" sz="1700" b="1" dirty="0"/>
              <a:t>:</a:t>
            </a:r>
            <a:endParaRPr lang="en-US" altLang="en-US" sz="1700" dirty="0"/>
          </a:p>
          <a:p>
            <a:pPr lvl="1"/>
            <a:r>
              <a:rPr lang="en-US" altLang="en-US" sz="1700" b="1" dirty="0"/>
              <a:t>Robustness:</a:t>
            </a:r>
            <a:r>
              <a:rPr lang="en-US" altLang="en-US" sz="1700" dirty="0"/>
              <a:t> It is more robust to outliers than RMSE. Because it doesn't square the error, a single massive mistake doesn't disproportionately inflate the score.</a:t>
            </a:r>
          </a:p>
          <a:p>
            <a:pPr lvl="1"/>
            <a:r>
              <a:rPr lang="en-US" altLang="en-US" sz="1700" b="1" dirty="0"/>
              <a:t>Interpretability:</a:t>
            </a:r>
            <a:r>
              <a:rPr lang="en-US" altLang="en-US" sz="1700" dirty="0"/>
              <a:t> The result is in the same units as the target variable (e.g., if you are predicting price in dollars, the MAE is in dollars</a:t>
            </a:r>
            <a:r>
              <a:rPr lang="en-US" altLang="en-US" sz="1700" dirty="0" smtClean="0"/>
              <a:t>).</a:t>
            </a:r>
          </a:p>
          <a:p>
            <a:pPr lvl="1"/>
            <a:endParaRPr lang="en-US" altLang="en-US" sz="1700" dirty="0"/>
          </a:p>
          <a:p>
            <a:r>
              <a:rPr lang="en-US" altLang="en-US" sz="1700" b="1" dirty="0"/>
              <a:t>2. Root Mean Squared Error (RMSE)</a:t>
            </a:r>
          </a:p>
          <a:p>
            <a:r>
              <a:rPr lang="en-US" altLang="en-US" sz="1700" dirty="0"/>
              <a:t>RMSE is the square root of the average of squared differences between prediction and actual observation</a:t>
            </a:r>
            <a:r>
              <a:rPr lang="en-US" altLang="en-US" sz="1700" dirty="0" smtClean="0"/>
              <a:t>.</a:t>
            </a:r>
          </a:p>
          <a:p>
            <a:r>
              <a:rPr lang="en-US" altLang="en-US" sz="1700" dirty="0" smtClean="0"/>
              <a:t> </a:t>
            </a:r>
            <a:r>
              <a:rPr lang="en-US" altLang="en-US" sz="1700" b="1" dirty="0" smtClean="0"/>
              <a:t>Characteristics</a:t>
            </a:r>
            <a:r>
              <a:rPr lang="en-US" altLang="en-US" sz="1700" b="1" dirty="0"/>
              <a:t>:</a:t>
            </a:r>
            <a:endParaRPr lang="en-US" altLang="en-US" sz="1700" dirty="0"/>
          </a:p>
          <a:p>
            <a:pPr lvl="1"/>
            <a:r>
              <a:rPr lang="en-US" altLang="en-US" sz="1700" b="1" dirty="0"/>
              <a:t>Sensitivity to Outliers:</a:t>
            </a:r>
            <a:r>
              <a:rPr lang="en-US" altLang="en-US" sz="1700" dirty="0"/>
              <a:t> Because the errors are squared before they are averaged, RMSE gives a relatively high weight to large errors. This means RMSE is most useful when large errors are particularly undesirable.</a:t>
            </a:r>
          </a:p>
          <a:p>
            <a:pPr lvl="1"/>
            <a:r>
              <a:rPr lang="en-US" altLang="en-US" sz="1700" b="1" dirty="0"/>
              <a:t>Mathematical Advantage:</a:t>
            </a:r>
            <a:r>
              <a:rPr lang="en-US" altLang="en-US" sz="1700" dirty="0"/>
              <a:t> In many transformation and optimization scenarios, the squared error is easier to work with computationally than absolute values.</a:t>
            </a:r>
          </a:p>
          <a:p>
            <a:endParaRPr lang="en-US" dirty="0"/>
          </a:p>
        </p:txBody>
      </p:sp>
      <p:sp>
        <p:nvSpPr>
          <p:cNvPr id="3" name="Title 2"/>
          <p:cNvSpPr>
            <a:spLocks noGrp="1"/>
          </p:cNvSpPr>
          <p:nvPr>
            <p:ph type="title"/>
          </p:nvPr>
        </p:nvSpPr>
        <p:spPr/>
        <p:txBody>
          <a:bodyPr>
            <a:normAutofit fontScale="90000"/>
          </a:bodyPr>
          <a:lstStyle/>
          <a:p>
            <a:r>
              <a:rPr lang="en-US" dirty="0" smtClean="0"/>
              <a:t>MEAN ABSOLUTE ERROR[MAE] &amp; ROOT MEAN SQUARED ERROR [RMSE]</a:t>
            </a:r>
            <a:endParaRPr lang="en-US" dirty="0"/>
          </a:p>
        </p:txBody>
      </p:sp>
    </p:spTree>
    <p:extLst>
      <p:ext uri="{BB962C8B-B14F-4D97-AF65-F5344CB8AC3E}">
        <p14:creationId xmlns:p14="http://schemas.microsoft.com/office/powerpoint/2010/main" val="2199134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CODE</a:t>
            </a:r>
            <a:endParaRPr lang="en-US" dirty="0"/>
          </a:p>
        </p:txBody>
      </p:sp>
      <p:pic>
        <p:nvPicPr>
          <p:cNvPr id="1026" name="Picture 2" descr="C:\Users\HRIDAYA TAYADE\OneDrive\Pictures\Screenshots 1\Screenshot 2026-03-31 01555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268760"/>
            <a:ext cx="8237987" cy="5112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4897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HRIDAYA TAYADE\OneDrive\Pictures\Screenshots 1\Screenshot 2026-03-31 01562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000599"/>
            <a:ext cx="8682026" cy="26974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2933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6793" r="7545"/>
          <a:stretch/>
        </p:blipFill>
        <p:spPr>
          <a:xfrm>
            <a:off x="4427984" y="1052736"/>
            <a:ext cx="4409231" cy="3168352"/>
          </a:xfrm>
        </p:spPr>
      </p:pic>
      <p:sp>
        <p:nvSpPr>
          <p:cNvPr id="3" name="Title 2"/>
          <p:cNvSpPr>
            <a:spLocks noGrp="1"/>
          </p:cNvSpPr>
          <p:nvPr>
            <p:ph type="title"/>
          </p:nvPr>
        </p:nvSpPr>
        <p:spPr/>
        <p:txBody>
          <a:bodyPr/>
          <a:lstStyle/>
          <a:p>
            <a:r>
              <a:rPr lang="en-US" dirty="0" smtClean="0"/>
              <a:t>CODE OUTPUT :</a:t>
            </a:r>
            <a:endParaRPr lang="en-US" dirty="0"/>
          </a:p>
        </p:txBody>
      </p:sp>
      <p:sp>
        <p:nvSpPr>
          <p:cNvPr id="6" name="TextBox 5"/>
          <p:cNvSpPr txBox="1"/>
          <p:nvPr/>
        </p:nvSpPr>
        <p:spPr>
          <a:xfrm>
            <a:off x="251520" y="1268760"/>
            <a:ext cx="4248472" cy="5632311"/>
          </a:xfrm>
          <a:prstGeom prst="rect">
            <a:avLst/>
          </a:prstGeom>
          <a:noFill/>
        </p:spPr>
        <p:txBody>
          <a:bodyPr wrap="square" rtlCol="0">
            <a:spAutoFit/>
          </a:bodyPr>
          <a:lstStyle/>
          <a:p>
            <a:r>
              <a:rPr lang="en-US" sz="1400" dirty="0">
                <a:latin typeface="Arial" pitchFamily="34" charset="0"/>
                <a:cs typeface="Arial" pitchFamily="34" charset="0"/>
              </a:rPr>
              <a:t>1. The "Horizontal Line" Problem</a:t>
            </a:r>
          </a:p>
          <a:p>
            <a:r>
              <a:rPr lang="en-US" sz="1400" dirty="0">
                <a:latin typeface="Arial" pitchFamily="34" charset="0"/>
                <a:cs typeface="Arial" pitchFamily="34" charset="0"/>
              </a:rPr>
              <a:t>The most striking feature is the flat orange dashed lines (around $172).</a:t>
            </a:r>
          </a:p>
          <a:p>
            <a:r>
              <a:rPr lang="en-US" sz="1400" dirty="0">
                <a:latin typeface="Arial" pitchFamily="34" charset="0"/>
                <a:cs typeface="Arial" pitchFamily="34" charset="0"/>
              </a:rPr>
              <a:t>Why it happens: Random Forest </a:t>
            </a:r>
            <a:r>
              <a:rPr lang="en-US" sz="1400" dirty="0" err="1">
                <a:latin typeface="Arial" pitchFamily="34" charset="0"/>
                <a:cs typeface="Arial" pitchFamily="34" charset="0"/>
              </a:rPr>
              <a:t>Regressors</a:t>
            </a:r>
            <a:r>
              <a:rPr lang="en-US" sz="1400" dirty="0">
                <a:latin typeface="Arial" pitchFamily="34" charset="0"/>
                <a:cs typeface="Arial" pitchFamily="34" charset="0"/>
              </a:rPr>
              <a:t> are built using Decision Trees. A key limitation of decision trees is that they cannot predict values outside the range of the training data they have already seen.</a:t>
            </a:r>
          </a:p>
          <a:p>
            <a:r>
              <a:rPr lang="en-US" sz="1400" dirty="0">
                <a:latin typeface="Arial" pitchFamily="34" charset="0"/>
                <a:cs typeface="Arial" pitchFamily="34" charset="0"/>
              </a:rPr>
              <a:t>The Result: If the stock price rises to a new all-time high that wasn't in the training set, the model "plateaus." It simply returns the average of the highest values it knows, resulting in those long, flat horizontal predictions</a:t>
            </a:r>
            <a:r>
              <a:rPr lang="en-US" sz="1400" dirty="0" smtClean="0">
                <a:latin typeface="Arial" pitchFamily="34" charset="0"/>
                <a:cs typeface="Arial" pitchFamily="34" charset="0"/>
              </a:rPr>
              <a:t>.</a:t>
            </a:r>
          </a:p>
          <a:p>
            <a:endParaRPr lang="en-US" sz="1400" dirty="0">
              <a:latin typeface="Arial" pitchFamily="34" charset="0"/>
              <a:cs typeface="Arial" pitchFamily="34" charset="0"/>
            </a:endParaRPr>
          </a:p>
          <a:p>
            <a:r>
              <a:rPr lang="en-US" sz="1400" dirty="0">
                <a:latin typeface="Arial" pitchFamily="34" charset="0"/>
                <a:cs typeface="Arial" pitchFamily="34" charset="0"/>
              </a:rPr>
              <a:t>2. Lagging and Mean Reversion</a:t>
            </a:r>
          </a:p>
          <a:p>
            <a:r>
              <a:rPr lang="en-US" sz="1400" dirty="0">
                <a:latin typeface="Arial" pitchFamily="34" charset="0"/>
                <a:cs typeface="Arial" pitchFamily="34" charset="0"/>
              </a:rPr>
              <a:t>In the middle section (August to October), the predicted price (orange) appears to "hug" a specific narrow range even when the actual price (blue) swings wildly.</a:t>
            </a:r>
          </a:p>
          <a:p>
            <a:r>
              <a:rPr lang="en-US" sz="1400" dirty="0">
                <a:latin typeface="Arial" pitchFamily="34" charset="0"/>
                <a:cs typeface="Arial" pitchFamily="34" charset="0"/>
              </a:rPr>
              <a:t>The model is likely relying on features that don't have enough predictive power for future price movements.</a:t>
            </a:r>
          </a:p>
          <a:p>
            <a:r>
              <a:rPr lang="en-US" sz="1400" dirty="0">
                <a:latin typeface="Arial" pitchFamily="34" charset="0"/>
                <a:cs typeface="Arial" pitchFamily="34" charset="0"/>
              </a:rPr>
              <a:t>Instead of "forecasting," the model is essentially guessing the historical average of the data points it was trained on.</a:t>
            </a:r>
          </a:p>
          <a:p>
            <a:endParaRPr lang="en-US" sz="2400" dirty="0"/>
          </a:p>
        </p:txBody>
      </p:sp>
      <p:sp>
        <p:nvSpPr>
          <p:cNvPr id="7" name="TextBox 6"/>
          <p:cNvSpPr txBox="1"/>
          <p:nvPr/>
        </p:nvSpPr>
        <p:spPr>
          <a:xfrm>
            <a:off x="4502264" y="4095571"/>
            <a:ext cx="4390216" cy="2585323"/>
          </a:xfrm>
          <a:prstGeom prst="rect">
            <a:avLst/>
          </a:prstGeom>
          <a:noFill/>
        </p:spPr>
        <p:txBody>
          <a:bodyPr wrap="square" rtlCol="0">
            <a:spAutoFit/>
          </a:bodyPr>
          <a:lstStyle/>
          <a:p>
            <a:r>
              <a:rPr lang="en-US" sz="1600" dirty="0">
                <a:latin typeface="Arial" pitchFamily="34" charset="0"/>
                <a:cs typeface="Arial" pitchFamily="34" charset="0"/>
              </a:rPr>
              <a:t>3. Lack of Extrapolation</a:t>
            </a:r>
          </a:p>
          <a:p>
            <a:r>
              <a:rPr lang="en-US" sz="1600" dirty="0">
                <a:latin typeface="Arial" pitchFamily="34" charset="0"/>
                <a:cs typeface="Arial" pitchFamily="34" charset="0"/>
              </a:rPr>
              <a:t>Unlike a Linear Regression model, which can follow a trend line up to infinity, a Random Forest is an ensemble of "step functions."</a:t>
            </a:r>
          </a:p>
          <a:p>
            <a:r>
              <a:rPr lang="en-US" sz="1600" dirty="0">
                <a:latin typeface="Arial" pitchFamily="34" charset="0"/>
                <a:cs typeface="Arial" pitchFamily="34" charset="0"/>
              </a:rPr>
              <a:t>It is excellent at finding patterns </a:t>
            </a:r>
            <a:r>
              <a:rPr lang="en-US" sz="1600" i="1" dirty="0">
                <a:latin typeface="Arial" pitchFamily="34" charset="0"/>
                <a:cs typeface="Arial" pitchFamily="34" charset="0"/>
              </a:rPr>
              <a:t>within</a:t>
            </a:r>
            <a:r>
              <a:rPr lang="en-US" sz="1600" dirty="0">
                <a:latin typeface="Arial" pitchFamily="34" charset="0"/>
                <a:cs typeface="Arial" pitchFamily="34" charset="0"/>
              </a:rPr>
              <a:t> a known range (interpolation).</a:t>
            </a:r>
          </a:p>
          <a:p>
            <a:r>
              <a:rPr lang="en-US" sz="1600" dirty="0">
                <a:latin typeface="Arial" pitchFamily="34" charset="0"/>
                <a:cs typeface="Arial" pitchFamily="34" charset="0"/>
              </a:rPr>
              <a:t>It is notoriously bad at predicting a trend that continues </a:t>
            </a:r>
            <a:r>
              <a:rPr lang="en-US" sz="1600" i="1" dirty="0">
                <a:latin typeface="Arial" pitchFamily="34" charset="0"/>
                <a:cs typeface="Arial" pitchFamily="34" charset="0"/>
              </a:rPr>
              <a:t>upward or downward</a:t>
            </a:r>
            <a:r>
              <a:rPr lang="en-US" sz="1600" dirty="0">
                <a:latin typeface="Arial" pitchFamily="34" charset="0"/>
                <a:cs typeface="Arial" pitchFamily="34" charset="0"/>
              </a:rPr>
              <a:t> beyond its training window (extrapolation).</a:t>
            </a:r>
          </a:p>
          <a:p>
            <a:endParaRPr lang="en-US" dirty="0"/>
          </a:p>
        </p:txBody>
      </p:sp>
    </p:spTree>
    <p:extLst>
      <p:ext uri="{BB962C8B-B14F-4D97-AF65-F5344CB8AC3E}">
        <p14:creationId xmlns:p14="http://schemas.microsoft.com/office/powerpoint/2010/main" val="3230634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p:cNvSpPr>
            <a:spLocks noGrp="1"/>
          </p:cNvSpPr>
          <p:nvPr>
            <p:ph type="ctrTitle"/>
          </p:nvPr>
        </p:nvSpPr>
        <p:spPr/>
        <p:txBody>
          <a:bodyPr/>
          <a:lstStyle/>
          <a:p>
            <a:r>
              <a:rPr lang="en-US" altLang="ko-KR" dirty="0"/>
              <a:t>THANK </a:t>
            </a:r>
            <a:r>
              <a:rPr lang="en-US" altLang="ko-KR" dirty="0">
                <a:solidFill>
                  <a:schemeClr val="accent5"/>
                </a:solidFill>
              </a:rPr>
              <a:t>YOU</a:t>
            </a:r>
            <a:endParaRPr lang="ko-KR" altLang="en-US" dirty="0">
              <a:solidFill>
                <a:schemeClr val="accent5"/>
              </a:solidFill>
            </a:endParaRP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사용자 지정 1">
      <a:majorFont>
        <a:latin typeface="Calibri"/>
        <a:ea typeface="맑은 고딕"/>
        <a:cs typeface=""/>
      </a:majorFont>
      <a:minorFont>
        <a:latin typeface="Calibri Light"/>
        <a:ea typeface="맑은 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9947</TotalTime>
  <Words>1654</Words>
  <Application>Microsoft Office PowerPoint</Application>
  <PresentationFormat>On-screen Show (4:3)</PresentationFormat>
  <Paragraphs>100</Paragraphs>
  <Slides>11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맑은 고딕</vt:lpstr>
      <vt:lpstr>Arial Rounded MT Bold</vt:lpstr>
      <vt:lpstr>굴림</vt:lpstr>
      <vt:lpstr>Calibri Light</vt:lpstr>
      <vt:lpstr>Calibri</vt:lpstr>
      <vt:lpstr>굴림체</vt:lpstr>
      <vt:lpstr>Office 테마</vt:lpstr>
      <vt:lpstr>STOCK PRICE PREDICTION WITH MACHINE LEARNING USING PYTHON</vt:lpstr>
      <vt:lpstr>PREDICTING STOCK PRICES</vt:lpstr>
      <vt:lpstr>DATA COLLECTION</vt:lpstr>
      <vt:lpstr>DATA PREPROCESSING AND FEATURES ENGINEERING</vt:lpstr>
      <vt:lpstr>FEATURE ENGINEERING</vt:lpstr>
      <vt:lpstr>MODEL SELECTION</vt:lpstr>
      <vt:lpstr>MEAN ABSOLUTE ERROR[MAE] &amp; ROOT MEAN SQUARED ERROR [RMSE]</vt:lpstr>
      <vt:lpstr>CODE</vt:lpstr>
      <vt:lpstr>PowerPoint Presentation</vt:lpstr>
      <vt:lpstr>CODE OUTPUT :</vt:lpstr>
      <vt:lpstr>THANK YOU</vt:lpstr>
    </vt:vector>
  </TitlesOfParts>
  <Manager>Slide Members</Manager>
  <Company>YESFORM Co.,Ltd.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Members</dc:title>
  <dc:subject>Powerpoint Templates , Diagram, Chart, Google slides, Keynote</dc:subject>
  <dc:creator>Slide Members by HS.SEO</dc:creator>
  <cp:keywords>SlideMembers, ppt, PPT Templates, Presentation, Diagram, Chart, Yesform, Google slides, Keynote, Free Slides</cp:keywords>
  <dc:description>The copyright of this document is at Slide Members. Unauthorized copying may result in legal sanctions.</dc:description>
  <cp:lastModifiedBy>HRIDAYA TAYADE</cp:lastModifiedBy>
  <cp:revision>5</cp:revision>
  <dcterms:created xsi:type="dcterms:W3CDTF">2010-02-01T08:03:16Z</dcterms:created>
  <dcterms:modified xsi:type="dcterms:W3CDTF">2026-03-31T15:18:29Z</dcterms:modified>
  <cp:category>www.slidemembers.com</cp:category>
</cp:coreProperties>
</file>